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2" r:id="rId3"/>
    <p:sldId id="263" r:id="rId4"/>
    <p:sldId id="264" r:id="rId5"/>
    <p:sldId id="266" r:id="rId6"/>
    <p:sldId id="268" r:id="rId7"/>
    <p:sldId id="270" r:id="rId8"/>
    <p:sldId id="269" r:id="rId9"/>
    <p:sldId id="267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2A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 autoAdjust="0"/>
    <p:restoredTop sz="94660"/>
  </p:normalViewPr>
  <p:slideViewPr>
    <p:cSldViewPr snapToGrid="0">
      <p:cViewPr>
        <p:scale>
          <a:sx n="75" d="100"/>
          <a:sy n="75" d="100"/>
        </p:scale>
        <p:origin x="106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91FFAE3-4257-A20D-7C14-4D8F7D6412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5B9F304-7825-8C65-804F-C259267369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5E1D7-CF47-4178-8D63-FABCCB552304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837E15C-9F1E-8E13-1A85-29232954D8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3D15695-5A2A-077A-AF6A-4C83FBE2A3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6B2D9-DC10-45A5-99CA-F1A06B6A5C8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125876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2E479-B0D7-429B-AB44-2467B9490D43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7F5B0-21FE-4DEE-9B09-26CFBAEA99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9429833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5348D4-CA5A-E920-2A20-487CD86D9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0757" y="188119"/>
            <a:ext cx="6606746" cy="108462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rgbClr val="982A2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51326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D9B876-6520-022D-9585-C95F1B10A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7657" y="1729958"/>
            <a:ext cx="10947355" cy="4794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</a:t>
            </a:r>
            <a:r>
              <a:rPr lang="it-IT" dirty="0" err="1"/>
              <a:t>livellologo_dei.pdf</a:t>
            </a:r>
            <a:endParaRPr lang="it-IT" dirty="0"/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684211D-2959-0688-254C-D8846D90FB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80344" y="136525"/>
            <a:ext cx="2384668" cy="1092378"/>
          </a:xfrm>
          <a:prstGeom prst="rect">
            <a:avLst/>
          </a:prstGeom>
        </p:spPr>
      </p:pic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61F4D694-B306-AEBE-CC83-10B328352DDF}"/>
              </a:ext>
            </a:extLst>
          </p:cNvPr>
          <p:cNvCxnSpPr>
            <a:cxnSpLocks/>
          </p:cNvCxnSpPr>
          <p:nvPr userDrawn="1"/>
        </p:nvCxnSpPr>
        <p:spPr>
          <a:xfrm>
            <a:off x="429208" y="1362708"/>
            <a:ext cx="11292892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C4B97F6F-7E5F-9707-CC37-08DBCDCC0F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208" y="136522"/>
            <a:ext cx="1638542" cy="109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27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B4CEC0-4D44-5F52-708F-D3A334681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747" y="2026353"/>
            <a:ext cx="10547797" cy="800685"/>
          </a:xfrm>
        </p:spPr>
        <p:txBody>
          <a:bodyPr>
            <a:noAutofit/>
          </a:bodyPr>
          <a:lstStyle/>
          <a:p>
            <a:pPr marL="0" lvl="1" algn="ctr">
              <a:lnSpc>
                <a:spcPct val="120000"/>
              </a:lnSpc>
              <a:spcBef>
                <a:spcPct val="20000"/>
              </a:spcBef>
              <a:defRPr/>
            </a:pP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Università degli Studi di Padova – Dipartimento di Ingegneria dell’Informazione</a:t>
            </a:r>
            <a:b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Corso di Laurea in Ingegneria Elettronica</a:t>
            </a:r>
            <a:b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it-IT" sz="2400" dirty="0">
              <a:solidFill>
                <a:srgbClr val="FF0000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DFCE87B-E823-8376-3CAF-90B0673EC4D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313645" y="3049320"/>
            <a:ext cx="9144000" cy="1402027"/>
          </a:xfrm>
        </p:spPr>
        <p:txBody>
          <a:bodyPr>
            <a:normAutofit fontScale="92500" lnSpcReduction="20000"/>
          </a:bodyPr>
          <a:lstStyle/>
          <a:p>
            <a:pPr marL="0" indent="0" algn="ctr" defTabSz="5948886">
              <a:lnSpc>
                <a:spcPct val="90000"/>
              </a:lnSpc>
              <a:buNone/>
              <a:tabLst>
                <a:tab pos="8930182" algn="l"/>
              </a:tabLst>
              <a:defRPr/>
            </a:pPr>
            <a:r>
              <a:rPr lang="it-IT" sz="36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Relazione per la prova finale</a:t>
            </a:r>
          </a:p>
          <a:p>
            <a:pPr marL="0" indent="0" algn="ctr" defTabSz="5948886">
              <a:buNone/>
              <a:tabLst>
                <a:tab pos="8930182" algn="l"/>
              </a:tabLst>
              <a:defRPr/>
            </a:pPr>
            <a:r>
              <a:rPr lang="it-IT" sz="36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«</a:t>
            </a:r>
            <a:r>
              <a:rPr lang="it-IT" b="1" dirty="0"/>
              <a:t>Progettazione e realizzazione del Controllo Automatico per la Gestione Climatica di una Serra</a:t>
            </a:r>
            <a:r>
              <a:rPr lang="it-IT" sz="36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»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18C2675-A27D-48D0-7813-1E2386A2800A}"/>
              </a:ext>
            </a:extLst>
          </p:cNvPr>
          <p:cNvSpPr txBox="1"/>
          <p:nvPr/>
        </p:nvSpPr>
        <p:spPr>
          <a:xfrm>
            <a:off x="611747" y="4987065"/>
            <a:ext cx="42495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Relatore: Prof. Meneghini Matteo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E924A8A-6B41-0FCA-5203-BDDD97E30319}"/>
              </a:ext>
            </a:extLst>
          </p:cNvPr>
          <p:cNvSpPr txBox="1"/>
          <p:nvPr/>
        </p:nvSpPr>
        <p:spPr>
          <a:xfrm>
            <a:off x="7193674" y="4941594"/>
            <a:ext cx="39344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Laureando</a:t>
            </a:r>
            <a:r>
              <a:rPr lang="it-IT" sz="2200" dirty="0"/>
              <a:t>: Baggio Edoardo</a:t>
            </a:r>
          </a:p>
          <a:p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Matricola n</a:t>
            </a:r>
            <a:r>
              <a:rPr lang="it-IT" sz="2200" dirty="0"/>
              <a:t>.: 2073899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F2DB855A-A3DE-C713-507A-9F87B4E3F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747" y="5978788"/>
            <a:ext cx="352694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it-IT" altLang="it-IT" sz="2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Padova, …/07/2026</a:t>
            </a:r>
          </a:p>
        </p:txBody>
      </p:sp>
    </p:spTree>
    <p:extLst>
      <p:ext uri="{BB962C8B-B14F-4D97-AF65-F5344CB8AC3E}">
        <p14:creationId xmlns:p14="http://schemas.microsoft.com/office/powerpoint/2010/main" val="31100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42E443-37F0-4C41-F904-6EEE6503F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INTRODUZIONE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86CBCA2-B7E9-52CB-DF38-E5C0F181B3F9}"/>
              </a:ext>
            </a:extLst>
          </p:cNvPr>
          <p:cNvSpPr txBox="1"/>
          <p:nvPr/>
        </p:nvSpPr>
        <p:spPr>
          <a:xfrm>
            <a:off x="737119" y="2118049"/>
            <a:ext cx="50945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Il contesto: </a:t>
            </a:r>
            <a:r>
              <a:rPr lang="it-IT" dirty="0"/>
              <a:t>Agricoltura di precisione e automazione per l'ottimizzazione del controllo degli ambienti di coltivazione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Il problema:</a:t>
            </a:r>
            <a:r>
              <a:rPr lang="it-IT" dirty="0"/>
              <a:t> Repentine variazioni atmosferiche dovute all'irraggiamento e alla traspirazione vegetale; il superamento delle soglie termiche rischia di danneggiare le colture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La soluzione: </a:t>
            </a:r>
            <a:r>
              <a:rPr lang="it-IT" dirty="0"/>
              <a:t>Un impianto di automazione che interviene autonomamente aprendo o chiudendo le finestre di aerazione per ristabilire i parametri ottimali</a:t>
            </a: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F55954E-F91D-21D1-A68C-DEB8F3834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495" y="2388637"/>
            <a:ext cx="4516016" cy="338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4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0E4851-4347-50DB-F56C-8371B288E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OBIETTIVO DEL LAVORO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F31A4D0-9EA1-5848-2C73-4D22F0358637}"/>
              </a:ext>
            </a:extLst>
          </p:cNvPr>
          <p:cNvSpPr txBox="1"/>
          <p:nvPr/>
        </p:nvSpPr>
        <p:spPr>
          <a:xfrm>
            <a:off x="949391" y="2115645"/>
            <a:ext cx="609755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Realizzare un dispositivo custom</a:t>
            </a:r>
            <a:r>
              <a:rPr lang="it-IT" dirty="0"/>
              <a:t>, compatto e su misura per superare le limitazioni delle generiche soluzioni commerciali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Sviluppo Unità Centrale:</a:t>
            </a:r>
            <a:r>
              <a:rPr lang="it-IT" dirty="0"/>
              <a:t> Logica di controllo basata su microcontrollore ATmega328P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Acquisizione Dati: </a:t>
            </a:r>
            <a:r>
              <a:rPr lang="it-IT" dirty="0"/>
              <a:t>Rete di sensori in tempo reale (temperatura e umidità)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Interfaccia Utente (HMI): </a:t>
            </a:r>
            <a:r>
              <a:rPr lang="it-IT" dirty="0"/>
              <a:t>Display grafico interattivo per monitorare i dati e variare le soglie dalla serra, rendendo il sistema indipendente da PC esterni</a:t>
            </a:r>
          </a:p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09EBFFC-23BA-4E3A-A06C-616C797A0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655" y="2648047"/>
            <a:ext cx="458152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7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44F08B-34B3-ECED-1F53-D5D910DC97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DESCRIZIONE DEL LAVORO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C57BBA5-B52F-D8C7-8621-4C2CA5165E0E}"/>
              </a:ext>
            </a:extLst>
          </p:cNvPr>
          <p:cNvSpPr txBox="1"/>
          <p:nvPr/>
        </p:nvSpPr>
        <p:spPr>
          <a:xfrm>
            <a:off x="1819848" y="1541499"/>
            <a:ext cx="786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Scelta dell’hardware e dei componenti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86D172FE-A4AF-16DB-258B-0C3F95C686EE}"/>
              </a:ext>
            </a:extLst>
          </p:cNvPr>
          <p:cNvSpPr/>
          <p:nvPr/>
        </p:nvSpPr>
        <p:spPr>
          <a:xfrm>
            <a:off x="2014824" y="2394181"/>
            <a:ext cx="2239347" cy="461665"/>
          </a:xfrm>
          <a:prstGeom prst="round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Microcontrollore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8383DAF1-0499-0D31-97C6-E3550BF73903}"/>
              </a:ext>
            </a:extLst>
          </p:cNvPr>
          <p:cNvSpPr/>
          <p:nvPr/>
        </p:nvSpPr>
        <p:spPr>
          <a:xfrm>
            <a:off x="2014825" y="3416824"/>
            <a:ext cx="2239347" cy="461665"/>
          </a:xfrm>
          <a:prstGeom prst="round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Sensori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520FCDF5-F5E6-0995-5FDB-960AA6B92473}"/>
              </a:ext>
            </a:extLst>
          </p:cNvPr>
          <p:cNvSpPr/>
          <p:nvPr/>
        </p:nvSpPr>
        <p:spPr>
          <a:xfrm>
            <a:off x="2014825" y="4439467"/>
            <a:ext cx="2239347" cy="461665"/>
          </a:xfrm>
          <a:prstGeom prst="round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Display</a:t>
            </a: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C0F93C38-D05E-9F57-763A-57A1B1822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082" y="3141046"/>
            <a:ext cx="1282659" cy="928822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7E2C9943-73F2-5E2D-DA83-7386887B0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89" y="2220886"/>
            <a:ext cx="1438244" cy="808253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9C6AE435-8808-A586-0373-8623678886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75" b="13423"/>
          <a:stretch>
            <a:fillRect/>
          </a:stretch>
        </p:blipFill>
        <p:spPr>
          <a:xfrm rot="19972470">
            <a:off x="9104692" y="4235618"/>
            <a:ext cx="1167438" cy="851086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4CB5618E-5DAA-6CF0-B72B-FC61EE910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791" y="5201840"/>
            <a:ext cx="970384" cy="970384"/>
          </a:xfrm>
          <a:prstGeom prst="rect">
            <a:avLst/>
          </a:prstGeom>
        </p:spPr>
      </p:pic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490793ED-7B10-4574-BA93-C90689D60C80}"/>
              </a:ext>
            </a:extLst>
          </p:cNvPr>
          <p:cNvSpPr/>
          <p:nvPr/>
        </p:nvSpPr>
        <p:spPr>
          <a:xfrm>
            <a:off x="2014825" y="5462110"/>
            <a:ext cx="2239347" cy="461665"/>
          </a:xfrm>
          <a:prstGeom prst="round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Attuatori Lineari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5888872E-693E-1BD6-3381-213376784EFB}"/>
              </a:ext>
            </a:extLst>
          </p:cNvPr>
          <p:cNvSpPr/>
          <p:nvPr/>
        </p:nvSpPr>
        <p:spPr>
          <a:xfrm>
            <a:off x="6265352" y="2394181"/>
            <a:ext cx="2239347" cy="461665"/>
          </a:xfrm>
          <a:prstGeom prst="round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Atmega</a:t>
            </a:r>
            <a:r>
              <a:rPr lang="it-IT" dirty="0"/>
              <a:t> 328P-MU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CCB78E6C-56EC-0CBA-0FB4-4D384C00CB5D}"/>
              </a:ext>
            </a:extLst>
          </p:cNvPr>
          <p:cNvSpPr/>
          <p:nvPr/>
        </p:nvSpPr>
        <p:spPr>
          <a:xfrm>
            <a:off x="6265352" y="3416824"/>
            <a:ext cx="2239347" cy="461665"/>
          </a:xfrm>
          <a:prstGeom prst="round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DHT22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8661C081-351E-5C14-CB9E-E724248A6B00}"/>
              </a:ext>
            </a:extLst>
          </p:cNvPr>
          <p:cNvSpPr/>
          <p:nvPr/>
        </p:nvSpPr>
        <p:spPr>
          <a:xfrm>
            <a:off x="6265352" y="4310498"/>
            <a:ext cx="2239347" cy="719602"/>
          </a:xfrm>
          <a:prstGeom prst="round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Nextion</a:t>
            </a:r>
            <a:r>
              <a:rPr lang="it-IT" dirty="0"/>
              <a:t> </a:t>
            </a:r>
            <a:r>
              <a:rPr lang="it-IT" dirty="0" err="1"/>
              <a:t>Enhanced</a:t>
            </a:r>
            <a:r>
              <a:rPr lang="it-IT" dirty="0"/>
              <a:t> NX4832K035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404DB2B2-2A23-B95A-33FA-14C42111578F}"/>
              </a:ext>
            </a:extLst>
          </p:cNvPr>
          <p:cNvSpPr/>
          <p:nvPr/>
        </p:nvSpPr>
        <p:spPr>
          <a:xfrm>
            <a:off x="6265352" y="5207750"/>
            <a:ext cx="2239347" cy="970383"/>
          </a:xfrm>
          <a:prstGeom prst="round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Corsa: 300mm</a:t>
            </a:r>
          </a:p>
          <a:p>
            <a:pPr algn="ctr"/>
            <a:r>
              <a:rPr lang="it-IT" dirty="0"/>
              <a:t>Forza: 100kg</a:t>
            </a:r>
          </a:p>
          <a:p>
            <a:pPr algn="ctr"/>
            <a:r>
              <a:rPr lang="it-IT" dirty="0"/>
              <a:t>Assorbimento: 3A</a:t>
            </a:r>
          </a:p>
        </p:txBody>
      </p:sp>
      <p:sp>
        <p:nvSpPr>
          <p:cNvPr id="37" name="Freccia a destra 36">
            <a:extLst>
              <a:ext uri="{FF2B5EF4-FFF2-40B4-BE49-F238E27FC236}">
                <a16:creationId xmlns:a16="http://schemas.microsoft.com/office/drawing/2014/main" id="{F3279795-1312-6873-CB38-2FA164859C2D}"/>
              </a:ext>
            </a:extLst>
          </p:cNvPr>
          <p:cNvSpPr/>
          <p:nvPr/>
        </p:nvSpPr>
        <p:spPr>
          <a:xfrm>
            <a:off x="4770557" y="243103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Freccia a destra 37">
            <a:extLst>
              <a:ext uri="{FF2B5EF4-FFF2-40B4-BE49-F238E27FC236}">
                <a16:creationId xmlns:a16="http://schemas.microsoft.com/office/drawing/2014/main" id="{6170C415-36EF-5D51-DEAF-EB7C0968A2D1}"/>
              </a:ext>
            </a:extLst>
          </p:cNvPr>
          <p:cNvSpPr/>
          <p:nvPr/>
        </p:nvSpPr>
        <p:spPr>
          <a:xfrm>
            <a:off x="4770557" y="33631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Freccia a destra 38">
            <a:extLst>
              <a:ext uri="{FF2B5EF4-FFF2-40B4-BE49-F238E27FC236}">
                <a16:creationId xmlns:a16="http://schemas.microsoft.com/office/drawing/2014/main" id="{E821D789-B412-620C-2A8F-B7B8DC458730}"/>
              </a:ext>
            </a:extLst>
          </p:cNvPr>
          <p:cNvSpPr/>
          <p:nvPr/>
        </p:nvSpPr>
        <p:spPr>
          <a:xfrm>
            <a:off x="4770557" y="441262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Freccia a destra 39">
            <a:extLst>
              <a:ext uri="{FF2B5EF4-FFF2-40B4-BE49-F238E27FC236}">
                <a16:creationId xmlns:a16="http://schemas.microsoft.com/office/drawing/2014/main" id="{C72DBE47-D373-E419-59B9-F38FC0EF1383}"/>
              </a:ext>
            </a:extLst>
          </p:cNvPr>
          <p:cNvSpPr/>
          <p:nvPr/>
        </p:nvSpPr>
        <p:spPr>
          <a:xfrm>
            <a:off x="4770557" y="546211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725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5B436-137A-4573-3919-A90C9131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14487C-1F9F-B5D4-C5CA-C9991DD77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DESCRIZIONE DEL LAVORO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1ACD1B3-8F79-EB49-AEAA-B0E43735D3D0}"/>
              </a:ext>
            </a:extLst>
          </p:cNvPr>
          <p:cNvSpPr txBox="1"/>
          <p:nvPr/>
        </p:nvSpPr>
        <p:spPr>
          <a:xfrm>
            <a:off x="1819848" y="1541499"/>
            <a:ext cx="786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Progettazione hardware PCB - Alimentazione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FB23A56-383B-F34D-CDB2-98D257540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355" y="2141376"/>
            <a:ext cx="8783289" cy="299979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447B172-EBE1-1F1B-73AB-D07C49A59C75}"/>
              </a:ext>
            </a:extLst>
          </p:cNvPr>
          <p:cNvSpPr txBox="1"/>
          <p:nvPr/>
        </p:nvSpPr>
        <p:spPr>
          <a:xfrm>
            <a:off x="1704355" y="5279380"/>
            <a:ext cx="10310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Ingresso 12V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Convertitore Buck step-down 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Alimentazione USB con protezione (PTC e Diodo Schottky)</a:t>
            </a:r>
          </a:p>
        </p:txBody>
      </p:sp>
    </p:spTree>
    <p:extLst>
      <p:ext uri="{BB962C8B-B14F-4D97-AF65-F5344CB8AC3E}">
        <p14:creationId xmlns:p14="http://schemas.microsoft.com/office/powerpoint/2010/main" val="376890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24CE0-77DD-8339-0096-EF89939E5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E35347-34EA-8B8E-609F-D50AAF66BC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DESCRIZIONE DEL LAVORO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0BE4274-81A4-F6FA-CC2A-D7FCFEAD38D7}"/>
              </a:ext>
            </a:extLst>
          </p:cNvPr>
          <p:cNvSpPr txBox="1"/>
          <p:nvPr/>
        </p:nvSpPr>
        <p:spPr>
          <a:xfrm>
            <a:off x="1819848" y="1541499"/>
            <a:ext cx="786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Progettazione hardware PCB – </a:t>
            </a:r>
            <a:r>
              <a:rPr lang="it-IT" sz="2400" b="1" dirty="0" err="1"/>
              <a:t>Analog</a:t>
            </a:r>
            <a:r>
              <a:rPr lang="it-IT" sz="2400" b="1" dirty="0"/>
              <a:t> UART Switching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CEAA063-0DD2-755F-CA79-C975F8083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024" y="2396964"/>
            <a:ext cx="4772025" cy="215265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7CFBCDC-1F55-53C7-F930-612A42D2DCEE}"/>
              </a:ext>
            </a:extLst>
          </p:cNvPr>
          <p:cNvSpPr txBox="1"/>
          <p:nvPr/>
        </p:nvSpPr>
        <p:spPr>
          <a:xfrm>
            <a:off x="7100596" y="2404258"/>
            <a:ext cx="46071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endParaRPr lang="it-IT" dirty="0"/>
          </a:p>
          <a:p>
            <a:r>
              <a:rPr lang="it-IT" b="1" dirty="0"/>
              <a:t>Stato 1</a:t>
            </a:r>
            <a:r>
              <a:rPr lang="it-IT" dirty="0"/>
              <a:t> (Programmazione </a:t>
            </a:r>
            <a:r>
              <a:rPr lang="it-IT" dirty="0" err="1"/>
              <a:t>ATmega</a:t>
            </a:r>
            <a:r>
              <a:rPr lang="it-IT" dirty="0"/>
              <a:t>): Connessione diretta PC ↔ Microcontrollore</a:t>
            </a:r>
          </a:p>
          <a:p>
            <a:endParaRPr lang="it-IT" dirty="0"/>
          </a:p>
          <a:p>
            <a:r>
              <a:rPr lang="it-IT" b="1" dirty="0"/>
              <a:t>Stato 2</a:t>
            </a:r>
            <a:r>
              <a:rPr lang="it-IT" dirty="0"/>
              <a:t> (Programmazione HMI): Connessione diretta PC ↔ Display </a:t>
            </a:r>
            <a:r>
              <a:rPr lang="it-IT" dirty="0" err="1"/>
              <a:t>Nextion</a:t>
            </a:r>
            <a:endParaRPr lang="it-IT" dirty="0"/>
          </a:p>
          <a:p>
            <a:endParaRPr lang="it-IT" dirty="0"/>
          </a:p>
          <a:p>
            <a:r>
              <a:rPr lang="it-IT" b="1" dirty="0"/>
              <a:t>Stato 3</a:t>
            </a:r>
            <a:r>
              <a:rPr lang="it-IT" dirty="0"/>
              <a:t> (Run Mode): Comunicazione bidirezionale Microcontrollore ↔ Display</a:t>
            </a:r>
          </a:p>
          <a:p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C144B7D-A032-0AD0-62C6-17A2B74222FB}"/>
              </a:ext>
            </a:extLst>
          </p:cNvPr>
          <p:cNvSpPr txBox="1"/>
          <p:nvPr/>
        </p:nvSpPr>
        <p:spPr>
          <a:xfrm>
            <a:off x="839755" y="4943415"/>
            <a:ext cx="58409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Limite Hardware: </a:t>
            </a:r>
            <a:r>
              <a:rPr lang="it-IT" dirty="0"/>
              <a:t>Singolo canale UART </a:t>
            </a:r>
            <a:r>
              <a:rPr lang="it-IT" dirty="0" err="1"/>
              <a:t>Atmega</a:t>
            </a:r>
            <a:r>
              <a:rPr lang="it-IT" dirty="0"/>
              <a:t> 328P-MU</a:t>
            </a:r>
          </a:p>
          <a:p>
            <a:endParaRPr lang="it-IT" dirty="0"/>
          </a:p>
          <a:p>
            <a:r>
              <a:rPr lang="it-IT" b="1" dirty="0"/>
              <a:t>Soluzione: </a:t>
            </a:r>
            <a:r>
              <a:rPr lang="it-IT" dirty="0"/>
              <a:t>Matrice di commutazione hardware con multiplexer analogici SN74HC4066DR</a:t>
            </a:r>
          </a:p>
        </p:txBody>
      </p:sp>
    </p:spTree>
    <p:extLst>
      <p:ext uri="{BB962C8B-B14F-4D97-AF65-F5344CB8AC3E}">
        <p14:creationId xmlns:p14="http://schemas.microsoft.com/office/powerpoint/2010/main" val="238240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D3F78-0491-E55E-E48D-58CF47335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FA84EB-18EA-511A-F5FF-FFA301C98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DESCRIZIONE DEL LAVORO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916DAFD-4D7A-1137-D24B-66B606DB6645}"/>
              </a:ext>
            </a:extLst>
          </p:cNvPr>
          <p:cNvSpPr txBox="1"/>
          <p:nvPr/>
        </p:nvSpPr>
        <p:spPr>
          <a:xfrm>
            <a:off x="1819848" y="1541499"/>
            <a:ext cx="786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Progettazione hardware PCB – Uscite di Potenza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B70C6E2-F71E-1827-D24A-DB74B2601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58" y="2150484"/>
            <a:ext cx="10097284" cy="422491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CFBDECCC-7AC8-3FD3-8FD7-969A12C95236}"/>
              </a:ext>
            </a:extLst>
          </p:cNvPr>
          <p:cNvSpPr txBox="1"/>
          <p:nvPr/>
        </p:nvSpPr>
        <p:spPr>
          <a:xfrm>
            <a:off x="4672090" y="2387600"/>
            <a:ext cx="1615440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Isolamento Galvanico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5AA3A0C-9D85-396F-2B06-65A163F2832D}"/>
              </a:ext>
            </a:extLst>
          </p:cNvPr>
          <p:cNvSpPr txBox="1"/>
          <p:nvPr/>
        </p:nvSpPr>
        <p:spPr>
          <a:xfrm>
            <a:off x="6096000" y="5489221"/>
            <a:ext cx="2214880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Ponte ad H a componenti discreti</a:t>
            </a:r>
          </a:p>
        </p:txBody>
      </p:sp>
      <p:cxnSp>
        <p:nvCxnSpPr>
          <p:cNvPr id="12" name="Connettore curvo 11">
            <a:extLst>
              <a:ext uri="{FF2B5EF4-FFF2-40B4-BE49-F238E27FC236}">
                <a16:creationId xmlns:a16="http://schemas.microsoft.com/office/drawing/2014/main" id="{7142860A-7ADE-EB10-5D14-7D9876E0F45D}"/>
              </a:ext>
            </a:extLst>
          </p:cNvPr>
          <p:cNvCxnSpPr>
            <a:cxnSpLocks/>
          </p:cNvCxnSpPr>
          <p:nvPr/>
        </p:nvCxnSpPr>
        <p:spPr>
          <a:xfrm flipV="1">
            <a:off x="8351520" y="5628640"/>
            <a:ext cx="579120" cy="233680"/>
          </a:xfrm>
          <a:prstGeom prst="curvedConnector3">
            <a:avLst>
              <a:gd name="adj1" fmla="val 102632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curvo 20">
            <a:extLst>
              <a:ext uri="{FF2B5EF4-FFF2-40B4-BE49-F238E27FC236}">
                <a16:creationId xmlns:a16="http://schemas.microsoft.com/office/drawing/2014/main" id="{3D1E8526-E87E-9CEC-5016-12A7C7FBE4E0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4216400" y="2710766"/>
            <a:ext cx="455690" cy="134034"/>
          </a:xfrm>
          <a:prstGeom prst="curvedConnector3">
            <a:avLst>
              <a:gd name="adj1" fmla="val 85673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479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9EC11-A276-C7A8-8BC0-B70B78DD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8422E7-8280-883B-D45A-3FDC7D8B4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DESCRIZIONE DEL LAVORO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A017FD8-02AD-5102-898D-C16137C365EE}"/>
              </a:ext>
            </a:extLst>
          </p:cNvPr>
          <p:cNvSpPr txBox="1"/>
          <p:nvPr/>
        </p:nvSpPr>
        <p:spPr>
          <a:xfrm>
            <a:off x="1819848" y="1541499"/>
            <a:ext cx="786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Sbroglio PCB e Assemblaggio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3E61803-469A-F09B-7A9C-086B97454E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15757"/>
            <a:ext cx="5361940" cy="35744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4EBA73D-1287-5B87-779D-8808796E6FCF}"/>
              </a:ext>
            </a:extLst>
          </p:cNvPr>
          <p:cNvSpPr txBox="1"/>
          <p:nvPr/>
        </p:nvSpPr>
        <p:spPr>
          <a:xfrm>
            <a:off x="863600" y="2152918"/>
            <a:ext cx="41554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Posizionamento Ideale Componenti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Dimensionamento piste PCB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Separazione dominio digitale e di potenza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Realizzazione scheda di espansione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D1F034B-6978-A84B-A81E-E490D47802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8" t="22977" r="18318" b="28907"/>
          <a:stretch>
            <a:fillRect/>
          </a:stretch>
        </p:blipFill>
        <p:spPr bwMode="auto">
          <a:xfrm>
            <a:off x="1085215" y="4682116"/>
            <a:ext cx="3712210" cy="17316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16399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2311E-80DA-DE09-A9E9-EF21AF602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98E36-4B3D-9EEA-FD4B-79F83BE4C5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DESCRIZIONE DEL LAVORO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BB8E26-D908-242F-836A-7D4781AEAFCF}"/>
              </a:ext>
            </a:extLst>
          </p:cNvPr>
          <p:cNvSpPr txBox="1"/>
          <p:nvPr/>
        </p:nvSpPr>
        <p:spPr>
          <a:xfrm>
            <a:off x="1819848" y="1541499"/>
            <a:ext cx="786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Interfaccia Grafica </a:t>
            </a:r>
            <a:r>
              <a:rPr lang="it-IT" sz="2400" b="1" dirty="0" err="1"/>
              <a:t>Nextion</a:t>
            </a:r>
            <a:endParaRPr lang="it-IT" sz="2400" b="1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02D59BF-9F91-8C76-A73A-6DC2A9498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06952"/>
            <a:ext cx="2403043" cy="161410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149B825-5700-7B7E-66C8-51A3D6FDC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36250"/>
            <a:ext cx="2405064" cy="160337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1C8427B-9257-7028-5C69-AB65895F1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981" y="2536250"/>
            <a:ext cx="2403044" cy="160738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8C9DB86-7345-E662-7FA1-E968C6C57B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981" y="4310963"/>
            <a:ext cx="2403043" cy="160337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695BBAC-9F55-69F0-ED11-6E679E142483}"/>
              </a:ext>
            </a:extLst>
          </p:cNvPr>
          <p:cNvSpPr txBox="1"/>
          <p:nvPr/>
        </p:nvSpPr>
        <p:spPr>
          <a:xfrm>
            <a:off x="1084820" y="2183293"/>
            <a:ext cx="4470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Schede e Funzioni: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Serra: </a:t>
            </a:r>
            <a:r>
              <a:rPr lang="it-IT" dirty="0"/>
              <a:t>Home page con orario e statistiche  base</a:t>
            </a: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Dati:</a:t>
            </a:r>
            <a:r>
              <a:rPr lang="it-IT" dirty="0"/>
              <a:t> Visione dati in tempo reale e storico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Manuale:</a:t>
            </a:r>
            <a:r>
              <a:rPr lang="it-IT" dirty="0"/>
              <a:t> Apertura Manuale Finestre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Colture:</a:t>
            </a:r>
            <a:r>
              <a:rPr lang="it-IT" dirty="0"/>
              <a:t> Gestione piantagioni nelle zolle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/>
              <a:t>Info e Impostazioni: </a:t>
            </a:r>
            <a:r>
              <a:rPr lang="it-IT" dirty="0"/>
              <a:t>Impostare orario, luminosità ecc.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65735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200140-B138-CA0D-159B-B397533E0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DA8F258-0796-5845-EC7E-0E77722449EE}"/>
              </a:ext>
            </a:extLst>
          </p:cNvPr>
          <p:cNvSpPr txBox="1"/>
          <p:nvPr/>
        </p:nvSpPr>
        <p:spPr>
          <a:xfrm>
            <a:off x="1819848" y="1541499"/>
            <a:ext cx="7868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/>
              <a:t>Enclosure</a:t>
            </a:r>
            <a:r>
              <a:rPr lang="it-IT" sz="2400" b="1" dirty="0"/>
              <a:t>, montaggio, test e sviluppi futuri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D2C0261-528E-F7E9-5E33-FF68709F0CF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9"/>
          <a:stretch>
            <a:fillRect/>
          </a:stretch>
        </p:blipFill>
        <p:spPr bwMode="auto">
          <a:xfrm>
            <a:off x="1167077" y="4697754"/>
            <a:ext cx="3388757" cy="197212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019C801-E336-FEB3-7BB2-2DBC2E665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8" t="4360" r="9154"/>
          <a:stretch>
            <a:fillRect/>
          </a:stretch>
        </p:blipFill>
        <p:spPr>
          <a:xfrm>
            <a:off x="5600631" y="3076536"/>
            <a:ext cx="2966720" cy="240268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133FE25-BA9C-F62A-C478-943503E5E02D}"/>
              </a:ext>
            </a:extLst>
          </p:cNvPr>
          <p:cNvSpPr txBox="1"/>
          <p:nvPr/>
        </p:nvSpPr>
        <p:spPr>
          <a:xfrm>
            <a:off x="1042815" y="2160246"/>
            <a:ext cx="40676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Sviluppi futuri: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Connettività Wi-Fi (modulo ESP32)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Stazione metereologica con anemometro e pluviometro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Sensori di umidità del terreno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8A42B6D-D26A-703E-2972-50BC60E3C6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687777" y="3168701"/>
            <a:ext cx="2957804" cy="221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029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422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Tema di Office</vt:lpstr>
      <vt:lpstr>Università degli Studi di Padova – Dipartimento di Ingegneria dell’Informazione Corso di Laurea in Ingegneria Elettronica </vt:lpstr>
      <vt:lpstr>INTRODUZIONE</vt:lpstr>
      <vt:lpstr>OBIETTIVO DEL LAVORO</vt:lpstr>
      <vt:lpstr>DESCRIZIONE DEL LAVORO</vt:lpstr>
      <vt:lpstr>DESCRIZIONE DEL LAVORO</vt:lpstr>
      <vt:lpstr>DESCRIZIONE DEL LAVORO</vt:lpstr>
      <vt:lpstr>DESCRIZIONE DEL LAVORO</vt:lpstr>
      <vt:lpstr>DESCRIZIONE DEL LAVORO</vt:lpstr>
      <vt:lpstr>DESCRIZIONE DEL LAVORO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Borgato Sandra</dc:creator>
  <cp:lastModifiedBy>Edoardo Baggio</cp:lastModifiedBy>
  <cp:revision>17</cp:revision>
  <dcterms:created xsi:type="dcterms:W3CDTF">2025-12-16T15:36:11Z</dcterms:created>
  <dcterms:modified xsi:type="dcterms:W3CDTF">2026-05-12T10:07:30Z</dcterms:modified>
</cp:coreProperties>
</file>